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Học viên</c:v>
                </c:pt>
              </c:strCache>
            </c:strRef>
          </c:tx>
          <c:spPr>
            <a:solidFill>
              <a:srgbClr val="FF8A00"/>
            </a:solidFill>
          </c:spPr>
          <c:cat>
            <c:strRef>
              <c:f>Sheet1!$A$2:$A$6</c:f>
              <c:strCache>
                <c:ptCount val="5"/>
                <c:pt idx="0">
                  <c:v>T1/2024</c:v>
                </c:pt>
                <c:pt idx="1">
                  <c:v>T2/2024</c:v>
                </c:pt>
                <c:pt idx="2">
                  <c:v>T3/2024</c:v>
                </c:pt>
                <c:pt idx="3">
                  <c:v>T4/2024</c:v>
                </c:pt>
                <c:pt idx="4">
                  <c:v>T5/2024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</c:v>
                </c:pt>
                <c:pt idx="1">
                  <c:v>2800</c:v>
                </c:pt>
                <c:pt idx="2">
                  <c:v>4500</c:v>
                </c:pt>
                <c:pt idx="3">
                  <c:v>6900</c:v>
                </c:pt>
                <c:pt idx="4">
                  <c:v>9200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1"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solidFill>
      <a:srgbClr val="0A1E3C"/>
    </a:solidFill>
    <a:ln>
      <a:noFill/>
    </a:ln>
  </c:spPr>
  <c:txPr>
    <a:bodyPr/>
    <a:lstStyle/>
    <a:p>
      <a:pPr>
        <a:defRPr sz="1200">
          <a:solidFill>
            <a:srgbClr val="FFFFF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Nguồn</c:v>
                </c:pt>
              </c:strCache>
            </c:strRef>
          </c:tx>
          <c:dPt>
            <c:idx val="0"/>
            <c:spPr>
              <a:solidFill>
                <a:srgbClr val="FF8A00"/>
              </a:solidFill>
            </c:spPr>
          </c:dPt>
          <c:dPt>
            <c:idx val="1"/>
            <c:spPr>
              <a:solidFill>
                <a:srgbClr val="FFB366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9FB0CC"/>
              </a:solidFill>
            </c:spPr>
          </c:dPt>
          <c:cat>
            <c:strRef>
              <c:f>Sheet1!$A$2:$A$5</c:f>
              <c:strCache>
                <c:ptCount val="4"/>
                <c:pt idx="0">
                  <c:v>Website</c:v>
                </c:pt>
                <c:pt idx="1">
                  <c:v>Facebook Ads</c:v>
                </c:pt>
                <c:pt idx="2">
                  <c:v>Google Form</c:v>
                </c:pt>
                <c:pt idx="3">
                  <c:v>Zalo OA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18</c:v>
                </c:pt>
                <c:pt idx="2">
                  <c:v>14</c:v>
                </c:pt>
                <c:pt idx="3">
                  <c:v>10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 b="1">
                  <a:solidFill>
                    <a:srgbClr val="0A1E3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spPr>
    <a:solidFill>
      <a:srgbClr val="0A1E3C"/>
    </a:solidFill>
    <a:ln>
      <a:noFill/>
    </a:ln>
  </c:spPr>
  <c:txPr>
    <a:bodyPr/>
    <a:lstStyle/>
    <a:p>
      <a:pPr>
        <a:defRPr sz="1200">
          <a:solidFill>
            <a:srgbClr val="FFFFFF"/>
          </a:solidFill>
          <a:latin typeface="Arial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11183112" cy="27432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327648"/>
            <a:ext cx="11183112" cy="18288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0CC"/>
                </a:solidFill>
                <a:latin typeface="Arial"/>
              </a:rPr>
              <a:t>Nhập môn CNTT - Session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8A0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8A00"/>
                </a:solidFill>
                <a:latin typeface="Arial"/>
              </a:rPr>
              <a:t>BÀI TẬP SESSION 12 - MÔN NHẬP MÔN CNTT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Arial"/>
              </a:rPr>
              <a:t>LỚP HỌC 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9FB0CC"/>
                </a:solidFill>
                <a:latin typeface="Arial"/>
              </a:rPr>
              <a:t>Tính năng mới trên nền tảng PTIT-Learning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Arial"/>
              </a:rPr>
              <a:t>Trần Mạnh Hoa - HN-KS26-CNTT1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4 lợi thế của Lớp học 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83112" cy="27432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3112" cy="18288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0CC"/>
                </a:solidFill>
                <a:latin typeface="Arial"/>
              </a:rPr>
              <a:t>Nhập môn CNTT - Session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8A00"/>
                </a:solidFill>
                <a:latin typeface="Arial"/>
              </a:rPr>
              <a:t>2/6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57800" cy="1920240"/>
          </a:xfrm>
          <a:prstGeom prst="roundRect">
            <a:avLst/>
          </a:prstGeom>
          <a:solidFill>
            <a:srgbClr val="14294E"/>
          </a:solidFill>
          <a:ln w="19050">
            <a:solidFill>
              <a:srgbClr val="FF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000" b="1">
                <a:solidFill>
                  <a:srgbClr val="FF8A00"/>
                </a:solidFill>
                <a:latin typeface="Arial"/>
              </a:rPr>
              <a:t>01  </a:t>
            </a:r>
            <a:r>
              <a:rPr sz="1700" b="1">
                <a:solidFill>
                  <a:srgbClr val="FFFFFF"/>
                </a:solidFill>
                <a:latin typeface="Arial"/>
              </a:rPr>
              <a:t>Học mọi lúc mọi nơi</a:t>
            </a:r>
          </a:p>
          <a:p>
            <a:r>
              <a:rPr sz="1300" b="0">
                <a:solidFill>
                  <a:srgbClr val="9FB0CC"/>
                </a:solidFill>
                <a:latin typeface="Arial"/>
              </a:rPr>
              <a:t>Vào lớp bằng một cú bấm, không cần di chuyển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257800" cy="1920240"/>
          </a:xfrm>
          <a:prstGeom prst="roundRect">
            <a:avLst/>
          </a:prstGeom>
          <a:solidFill>
            <a:srgbClr val="14294E"/>
          </a:solidFill>
          <a:ln w="19050">
            <a:solidFill>
              <a:srgbClr val="FF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000" b="1">
                <a:solidFill>
                  <a:srgbClr val="FF8A00"/>
                </a:solidFill>
                <a:latin typeface="Arial"/>
              </a:rPr>
              <a:t>02  </a:t>
            </a:r>
            <a:r>
              <a:rPr sz="1700" b="1">
                <a:solidFill>
                  <a:srgbClr val="FFFFFF"/>
                </a:solidFill>
                <a:latin typeface="Arial"/>
              </a:rPr>
              <a:t>Tương tác như lớp học thật</a:t>
            </a:r>
          </a:p>
          <a:p>
            <a:r>
              <a:rPr sz="1300" b="0">
                <a:solidFill>
                  <a:srgbClr val="9FB0CC"/>
                </a:solidFill>
                <a:latin typeface="Arial"/>
              </a:rPr>
              <a:t>Gọi video, giơ tay, chat trực tiếp với giảng viên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86200"/>
            <a:ext cx="5257800" cy="1920240"/>
          </a:xfrm>
          <a:prstGeom prst="roundRect">
            <a:avLst/>
          </a:prstGeom>
          <a:solidFill>
            <a:srgbClr val="14294E"/>
          </a:solidFill>
          <a:ln w="19050">
            <a:solidFill>
              <a:srgbClr val="FF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000" b="1">
                <a:solidFill>
                  <a:srgbClr val="FF8A00"/>
                </a:solidFill>
                <a:latin typeface="Arial"/>
              </a:rPr>
              <a:t>03  </a:t>
            </a:r>
            <a:r>
              <a:rPr sz="1700" b="1">
                <a:solidFill>
                  <a:srgbClr val="FFFFFF"/>
                </a:solidFill>
                <a:latin typeface="Arial"/>
              </a:rPr>
              <a:t>Xem lại bài giảng bất kỳ lúc nào</a:t>
            </a:r>
          </a:p>
          <a:p>
            <a:r>
              <a:rPr sz="1300" b="0">
                <a:solidFill>
                  <a:srgbClr val="9FB0CC"/>
                </a:solidFill>
                <a:latin typeface="Arial"/>
              </a:rPr>
              <a:t>Buổi học được ghi hình và lưu trên nền tảng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886200"/>
            <a:ext cx="5257800" cy="1920240"/>
          </a:xfrm>
          <a:prstGeom prst="roundRect">
            <a:avLst/>
          </a:prstGeom>
          <a:solidFill>
            <a:srgbClr val="14294E"/>
          </a:solidFill>
          <a:ln w="19050">
            <a:solidFill>
              <a:srgbClr val="FF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000" b="1">
                <a:solidFill>
                  <a:srgbClr val="FF8A00"/>
                </a:solidFill>
                <a:latin typeface="Arial"/>
              </a:rPr>
              <a:t>04  </a:t>
            </a:r>
            <a:r>
              <a:rPr sz="1700" b="1">
                <a:solidFill>
                  <a:srgbClr val="FFFFFF"/>
                </a:solidFill>
                <a:latin typeface="Arial"/>
              </a:rPr>
              <a:t>Quản lý lớp học tập trung</a:t>
            </a:r>
          </a:p>
          <a:p>
            <a:r>
              <a:rPr sz="1300" b="0">
                <a:solidFill>
                  <a:srgbClr val="9FB0CC"/>
                </a:solidFill>
                <a:latin typeface="Arial"/>
              </a:rPr>
              <a:t>Điểm danh, tài liệu, thông báo ngay trong lớp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Lộ trình học trên lớp học 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83112" cy="27432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3112" cy="18288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0CC"/>
                </a:solidFill>
                <a:latin typeface="Arial"/>
              </a:rPr>
              <a:t>Nhập môn CNTT - Session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8A00"/>
                </a:solidFill>
                <a:latin typeface="Arial"/>
              </a:rPr>
              <a:t>3/6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783080" cy="1051560"/>
          </a:xfrm>
          <a:prstGeom prst="roundRect">
            <a:avLst/>
          </a:prstGeom>
          <a:solidFill>
            <a:srgbClr val="14294E"/>
          </a:solidFill>
          <a:ln w="22225">
            <a:solidFill>
              <a:srgbClr val="FF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Đăng ký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lớp học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51176" y="2711196"/>
            <a:ext cx="384048" cy="292608"/>
          </a:xfrm>
          <a:prstGeom prst="rightArrow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35224" y="2331720"/>
            <a:ext cx="1783080" cy="1051560"/>
          </a:xfrm>
          <a:prstGeom prst="roundRect">
            <a:avLst/>
          </a:prstGeom>
          <a:solidFill>
            <a:srgbClr val="14294E"/>
          </a:solidFill>
          <a:ln w="22225">
            <a:solidFill>
              <a:srgbClr val="FF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Vào lớp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học ảo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54880" y="2711196"/>
            <a:ext cx="384048" cy="292608"/>
          </a:xfrm>
          <a:prstGeom prst="rightArrow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38928" y="2331720"/>
            <a:ext cx="1783080" cy="1051560"/>
          </a:xfrm>
          <a:prstGeom prst="roundRect">
            <a:avLst/>
          </a:prstGeom>
          <a:solidFill>
            <a:srgbClr val="14294E"/>
          </a:solidFill>
          <a:ln w="22225">
            <a:solidFill>
              <a:srgbClr val="FF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Học và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làm bài tập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58584" y="2711196"/>
            <a:ext cx="384048" cy="292608"/>
          </a:xfrm>
          <a:prstGeom prst="rightArrow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7342632" y="2313432"/>
            <a:ext cx="1920240" cy="1088136"/>
          </a:xfrm>
          <a:prstGeom prst="diamond">
            <a:avLst/>
          </a:prstGeom>
          <a:solidFill>
            <a:srgbClr val="14294E"/>
          </a:solidFill>
          <a:ln w="22225">
            <a:solidFill>
              <a:srgbClr val="FF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Đạt ≥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5/10?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99448" y="2711196"/>
            <a:ext cx="384048" cy="292608"/>
          </a:xfrm>
          <a:prstGeom prst="rightArrow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83496" y="2331720"/>
            <a:ext cx="1783080" cy="1051560"/>
          </a:xfrm>
          <a:prstGeom prst="roundRect">
            <a:avLst/>
          </a:prstGeom>
          <a:solidFill>
            <a:srgbClr val="14294E"/>
          </a:solidFill>
          <a:ln w="22225">
            <a:solidFill>
              <a:srgbClr val="FF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Hoàn thành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khoá học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156448" y="3493008"/>
            <a:ext cx="292608" cy="457200"/>
          </a:xfrm>
          <a:prstGeom prst="downArrow">
            <a:avLst/>
          </a:prstGeom>
          <a:solidFill>
            <a:srgbClr val="9F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11112" y="4041648"/>
            <a:ext cx="3383280" cy="658368"/>
          </a:xfrm>
          <a:prstGeom prst="roundRect">
            <a:avLst/>
          </a:prstGeom>
          <a:solidFill>
            <a:srgbClr val="0A1E3C"/>
          </a:solidFill>
          <a:ln w="15875">
            <a:solidFill>
              <a:srgbClr val="9F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9FB0CC"/>
                </a:solidFill>
                <a:latin typeface="Arial"/>
              </a:rPr>
              <a:t>Chưa đạt: học lại chương rồi thi lại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0CC"/>
                </a:solidFill>
                <a:latin typeface="Arial"/>
              </a:rPr>
              <a:t>Hình 1. Lộ trình học của học viên trên Lớp học 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Tăng trưởng và nguồn đăng ký học viên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83112" cy="27432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3112" cy="18288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0CC"/>
                </a:solidFill>
                <a:latin typeface="Arial"/>
              </a:rPr>
              <a:t>Nhập môn CNTT - Session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8A00"/>
                </a:solidFill>
                <a:latin typeface="Arial"/>
              </a:rPr>
              <a:t>4/6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600200"/>
          <a:ext cx="5486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623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0CC"/>
                </a:solidFill>
                <a:latin typeface="Arial"/>
              </a:rPr>
              <a:t>Số học viên theo tháng, năm 2024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92240" y="1600200"/>
          <a:ext cx="5120640" cy="3886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5623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0CC"/>
                </a:solidFill>
                <a:latin typeface="Arial"/>
              </a:rPr>
              <a:t>Nguồn đăng ký của 66 học viên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Tổng kết tháng 5/2024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83112" cy="27432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3112" cy="18288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0CC"/>
                </a:solidFill>
                <a:latin typeface="Arial"/>
              </a:rPr>
              <a:t>Nhập môn CNTT - Session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8A00"/>
                </a:solidFill>
                <a:latin typeface="Arial"/>
              </a:rPr>
              <a:t>5/6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Arial"/>
              </a:rPr>
              <a:t>Kết quả một tháng vận hành nền tảng PTIT-Learning: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8A00"/>
                </a:solidFill>
                <a:latin typeface="Arial"/>
              </a:rPr>
              <a:t>9.200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rial"/>
              </a:rPr>
              <a:t>học viên mới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834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8A00"/>
                </a:solidFill>
                <a:latin typeface="Arial"/>
              </a:rPr>
              <a:t>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rial"/>
              </a:rPr>
              <a:t>khóa học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926080"/>
            <a:ext cx="18288" cy="1188720"/>
          </a:xfrm>
          <a:prstGeom prst="rect">
            <a:avLst/>
          </a:prstGeom>
          <a:solidFill>
            <a:srgbClr val="9F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834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8A00"/>
                </a:solidFill>
                <a:latin typeface="Arial"/>
              </a:rPr>
              <a:t>1,28 tỷ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rial"/>
              </a:rPr>
              <a:t>doanh thu (VNĐ)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926080"/>
            <a:ext cx="18288" cy="1188720"/>
          </a:xfrm>
          <a:prstGeom prst="rect">
            <a:avLst/>
          </a:prstGeom>
          <a:solidFill>
            <a:srgbClr val="9F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834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8A00"/>
                </a:solidFill>
                <a:latin typeface="Arial"/>
              </a:rPr>
              <a:t>28%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rial"/>
              </a:rPr>
              <a:t>tỷ lệ lợi nhuận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2926080"/>
            <a:ext cx="18288" cy="1188720"/>
          </a:xfrm>
          <a:prstGeom prst="rect">
            <a:avLst/>
          </a:prstGeom>
          <a:solidFill>
            <a:srgbClr val="9F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Kết luận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83112" cy="27432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3112" cy="18288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0CC"/>
                </a:solidFill>
                <a:latin typeface="Arial"/>
              </a:rPr>
              <a:t>Nhập môn CNTT - Session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8A00"/>
                </a:solidFill>
                <a:latin typeface="Arial"/>
              </a:rPr>
              <a:t>6/6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FF8A00"/>
                </a:solidFill>
                <a:latin typeface="Arial"/>
              </a:rPr>
              <a:t>•  </a:t>
            </a:r>
            <a:r>
              <a:rPr sz="1900" b="0">
                <a:solidFill>
                  <a:srgbClr val="FFFFFF"/>
                </a:solidFill>
                <a:latin typeface="Arial"/>
              </a:rPr>
              <a:t>SRS gồm 4 chương với 10 tiêu đề cấp 2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FF8A00"/>
                </a:solidFill>
                <a:latin typeface="Arial"/>
              </a:rPr>
              <a:t>•  </a:t>
            </a:r>
            <a:r>
              <a:rPr sz="1900" b="0">
                <a:solidFill>
                  <a:srgbClr val="FFFFFF"/>
                </a:solidFill>
                <a:latin typeface="Arial"/>
              </a:rPr>
              <a:t>Excel quản lý 200 khóa học và 66 học viên đến từ 4 nguồn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FF8A00"/>
                </a:solidFill>
                <a:latin typeface="Arial"/>
              </a:rPr>
              <a:t>•  </a:t>
            </a:r>
            <a:r>
              <a:rPr sz="1900" b="0">
                <a:solidFill>
                  <a:srgbClr val="FFFFFF"/>
                </a:solidFill>
                <a:latin typeface="Arial"/>
              </a:rPr>
              <a:t>Nền navy với chữ trắng có độ tương phản cao nên dễ nhìn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348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8A00"/>
                </a:solidFill>
                <a:latin typeface="Arial"/>
              </a:rPr>
              <a:t>Cảm ơn thầy/cô!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Tinh nang Lop hoc ao - PTIT-Learning</dc:title>
  <dc:subject/>
  <dc:creator>Tran Manh Hoa</dc:creator>
  <cp:keywords/>
  <dc:description>generated using python-pptx</dc:description>
  <cp:lastModifiedBy>Tran Manh Hoa</cp:lastModifiedBy>
  <cp:revision>1</cp:revision>
  <dcterms:created xsi:type="dcterms:W3CDTF">2024-05-18T20:10:00Z</dcterms:created>
  <dcterms:modified xsi:type="dcterms:W3CDTF">2024-05-20T15:40:00Z</dcterms:modified>
  <cp:category/>
</cp:coreProperties>
</file>